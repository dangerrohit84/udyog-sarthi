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4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TODO(owner): Replace SIH26130-XXX with allotted Team ID and fill College name (___) before upload. Unify product name to Udyog Sarthi AI everywhere — done in this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TODO(owner): Demo script — say Vanilla JS + JSON + TF-IDF (no LLM) + metadata validation. Never claim React/Mongo/LLM/OCR built; all Phase-2 roadmap. Point at server.js validator/sweeps/TF-IDF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References: verify URLs + GR numbers before upload. Numbers 68-&gt;31d, 41-&gt;12% are seed projections (n=38) — pilot to validate.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3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20040"/>
            <a:ext cx="233172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1463040"/>
            <a:ext cx="2377440" cy="2377440"/>
          </a:xfrm>
          <a:prstGeom prst="hexagon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869680" y="3291840"/>
            <a:ext cx="1828800" cy="1828800"/>
          </a:xfrm>
          <a:prstGeom prst="hexagon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949440" y="3931920"/>
            <a:ext cx="1463040" cy="1463040"/>
          </a:xfrm>
          <a:prstGeom prst="hexagon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/home/claude/sih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691640"/>
            <a:ext cx="2743200" cy="36027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21488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SIH26130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262432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Title-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in streamlining industrial approvals, compliance processes, and access to government support services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53872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0142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Category-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48970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ID-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SIH26130-XXX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496519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Name- </a:t>
            </a: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Udyog Sarthi</a:t>
            </a:r>
            <a:endParaRPr lang="en-US" sz="1500" dirty="0"/>
          </a:p>
        </p:txBody>
      </p:sp>
      <p:sp>
        <p:nvSpPr>
          <p:cNvPr id="14" name="TextBox 13"/>
          <p:cNvSpPr txBox="1"/>
          <p:nvPr/>
        </p:nvSpPr>
        <p:spPr>
          <a:xfrm>
            <a:off x="502920" y="5440680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●  College – ___ (fill before upload)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24728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●  Product – </a:t>
            </a:r>
            <a:r>
              <a:rPr sz="1600" b="1">
                <a:solidFill>
                  <a:srgbClr val="1F5FA8"/>
                </a:solidFill>
                <a:latin typeface="Calibri"/>
              </a:rPr>
              <a:t>Udyog Sarthi AI</a:t>
            </a:r>
            <a:r>
              <a:rPr sz="1200">
                <a:solidFill>
                  <a:srgbClr val="222222"/>
                </a:solidFill>
                <a:latin typeface="Calibri"/>
              </a:rPr>
              <a:t> – Intelligent Industrial Approval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11640312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Calibri"/>
              </a:rPr>
              <a:t>Udyog Sarthi AI  |  SIH26130-XXX  |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7432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B3B5C"/>
                </a:solidFill>
                <a:latin typeface="Calibri"/>
              </a:rPr>
              <a:t>Udyog Sarthi AI</a:t>
            </a:r>
            <a:endParaRPr lang="en-US" sz="12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B5C"/>
                </a:solidFill>
                <a:latin typeface="Calibri"/>
              </a:rPr>
              <a:t>SIH26130-XXX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103120" y="164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pic>
        <p:nvPicPr>
          <p:cNvPr id="5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"/>
            <a:ext cx="1481328" cy="6995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097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Udyog Sarthi AI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566928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8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Industrial Approval &amp; Compliance Platform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0040" y="1097280"/>
            <a:ext cx="2880360" cy="5394960"/>
          </a:xfrm>
          <a:prstGeom prst="roundRect">
            <a:avLst>
              <a:gd name="adj" fmla="val 3810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02920" y="12252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645920"/>
            <a:ext cx="2514600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face multiple portals &amp; unclear approval requirements.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for applicable licences, NOCs &amp; schemes.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checks cause delays &amp; repeated rejections.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lack visibility into pending cases &amp; bottlenecks across departments.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429000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3670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873752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873752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62472" y="13670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18504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2E7D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318504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07224" y="13670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763256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4A90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7763256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951976" y="13670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9208008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9208008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396728" y="13670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0652760" y="114300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10652760" y="1143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429000" y="1965960"/>
            <a:ext cx="5074920" cy="3977639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22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3566160" y="20756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222222"/>
                </a:solidFill>
                <a:latin typeface="Calibri"/>
              </a:rPr>
              <a:t>Our Solution (incl. Innovation)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611880" y="2459736"/>
            <a:ext cx="470916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SzPct val="100000"/>
              <a:buChar char="●"/>
            </a:pPr>
            <a:r>
              <a:rPr sz="1150">
                <a:solidFill>
                  <a:srgbClr val="222222"/>
                </a:solidFill>
                <a:latin typeface="Calibri"/>
              </a:rPr>
              <a:t>Unified platform for approvals, NOCs, inspections, renewals &amp; schemes.</a:t>
            </a:r>
            <a:endParaRPr lang="en-US" sz="115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Profile → personalised roadmap (sector × location × size × stage) + checklist.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Pre-validation + parallel workflow + SLA tracking (entrepreneur &amp; officer).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Cited TF-IDF assistant (no LLM) + renewal reminders (validity-table roadmap).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Pilot: 3 approvals × Sinnar MIDC, 20 users, 4 weeks; 68→31d, 41%→12%*.</a:t>
            </a:r>
          </a:p>
        </p:txBody>
      </p:sp>
      <p:sp>
        <p:nvSpPr>
          <p:cNvPr id="31" name="Shape 28"/>
          <p:cNvSpPr/>
          <p:nvPr/>
        </p:nvSpPr>
        <p:spPr>
          <a:xfrm>
            <a:off x="8641080" y="196596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222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8778240" y="20756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222222"/>
                </a:solidFill>
                <a:latin typeface="Calibri"/>
              </a:rPr>
              <a:t>Why Different — Innovation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823960" y="2459736"/>
            <a:ext cx="28803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  <a:buSzPct val="100000"/>
              <a:buChar char="●"/>
            </a:pPr>
            <a:r>
              <a:rPr sz="1050" b="0">
                <a:solidFill>
                  <a:srgbClr val="222222"/>
                </a:solidFill>
                <a:latin typeface="Calibri"/>
              </a:rPr>
              <a:t>TF-IDF retrieval with citations (P@1 0.75, no LLM), not generic listings.</a:t>
            </a:r>
            <a:endParaRPr lang="en-US" sz="11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  <a:latin typeface="Calibri"/>
              </a:rPr>
              <a:t>Pre-submission checks + risk-based scrutiny.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  <a:latin typeface="Calibri"/>
              </a:rPr>
              <a:t>Parallel workflows + SLA/bottleneck intelligence.</a:t>
            </a:r>
          </a:p>
        </p:txBody>
      </p:sp>
      <p:sp>
        <p:nvSpPr>
          <p:cNvPr id="34" name="Shape 31"/>
          <p:cNvSpPr/>
          <p:nvPr/>
        </p:nvSpPr>
        <p:spPr>
          <a:xfrm>
            <a:off x="8641080" y="4251960"/>
            <a:ext cx="324612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222222"/>
            </a:solidFill>
            <a:prstDash val="solid"/>
          </a:ln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8823960" y="474573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750" b="0">
                <a:solidFill>
                  <a:srgbClr val="595959"/>
                </a:solidFill>
                <a:latin typeface="Calibri"/>
              </a:rPr>
              <a:t>We complement, not duplicate: SSO + API over MAITRI/NSWS.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823960" y="6035040"/>
            <a:ext cx="2880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●"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274320" y="6199632"/>
            <a:ext cx="1164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1B3B5C"/>
                </a:solidFill>
                <a:latin typeface="Calibri"/>
              </a:rPr>
              <a:t>Pilot: 3 approvals (Udyam, Shops &amp; Estt., Fire NOC) × Sinnar MIDC (1 dist.)  |  20 users  |  4 weeks   •   68→31 days  •  41%→12% resubmissions*  •  2 / 6</a:t>
            </a:r>
            <a:endParaRPr lang="en-US" sz="85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595959"/>
                </a:solidFill>
                <a:latin typeface="Calibri"/>
              </a:rPr>
              <a:t>*Seed projection, pilot to validate  |  We complement MAITRI/NSWS via SSO + API (DigiLocker/MCA21 read-only, Phase-2)  |  @SIH Idea Submission – Udyog Sarthi AI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78240" y="5047488"/>
          <a:ext cx="29718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94360"/>
                <a:gridCol w="594360"/>
                <a:gridCol w="594360"/>
              </a:tblGrid>
              <a:tr h="22098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t" marL="36576" marR="36576" marT="9144" marB="9144">
                    <a:solidFill>
                      <a:srgbClr val="1B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MAITRI</a:t>
                      </a:r>
                    </a:p>
                  </a:txBody>
                  <a:tcPr anchor="t" marL="36576" marR="36576" marT="9144" marB="9144">
                    <a:solidFill>
                      <a:srgbClr val="1B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NSWS</a:t>
                      </a:r>
                    </a:p>
                  </a:txBody>
                  <a:tcPr anchor="t" marL="36576" marR="36576" marT="9144" marB="9144">
                    <a:solidFill>
                      <a:srgbClr val="1B3B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Udyog Sarthi</a:t>
                      </a:r>
                    </a:p>
                  </a:txBody>
                  <a:tcPr anchor="t" marL="36576" marR="36576" marT="9144" marB="9144">
                    <a:solidFill>
                      <a:srgbClr val="1B3B5C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1B3B5C"/>
                          </a:solidFill>
                          <a:latin typeface="Calibri"/>
                        </a:rPr>
                        <a:t>Roadmap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F4C81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1B3B5C"/>
                          </a:solidFill>
                          <a:latin typeface="Calibri"/>
                        </a:rPr>
                        <a:t>Pre-validation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F4C81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1B3B5C"/>
                          </a:solidFill>
                          <a:latin typeface="Calibri"/>
                        </a:rPr>
                        <a:t>Parallel flow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F4C81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1B3B5C"/>
                          </a:solidFill>
                          <a:latin typeface="Calibri"/>
                        </a:rPr>
                        <a:t>SLA/bottleneck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Basic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F4C81"/>
                          </a:solidFill>
                          <a:latin typeface="Calibri"/>
                        </a:rPr>
                        <a:t>Full+pred.</a:t>
                      </a:r>
                    </a:p>
                  </a:txBody>
                  <a:tcPr anchor="t" marL="36576" marR="36576" marT="9144" marB="9144">
                    <a:solidFill>
                      <a:srgbClr val="EEF1F5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1B3B5C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0F4C81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anchor="t"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778240" y="436168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B3B5C"/>
                </a:solidFill>
                <a:latin typeface="Calibri"/>
              </a:rPr>
              <a:t>MAITRI | NSWS | Udyog Sarthi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7432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B3B5C"/>
                </a:solidFill>
                <a:latin typeface="Calibri"/>
              </a:rPr>
              <a:t>Udyog Sarthi AI</a:t>
            </a:r>
            <a:endParaRPr lang="en-US" sz="12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B5C"/>
                </a:solidFill>
                <a:latin typeface="Calibri"/>
              </a:rPr>
              <a:t>SIH26130-XXX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103120" y="164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"/>
            <a:ext cx="1481328" cy="699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51560"/>
            <a:ext cx="7223760" cy="2331720"/>
          </a:xfrm>
          <a:prstGeom prst="roundRect">
            <a:avLst>
              <a:gd name="adj" fmla="val 3922"/>
            </a:avLst>
          </a:prstGeom>
          <a:solidFill>
            <a:srgbClr val="DCE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5720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>
                <a:solidFill>
                  <a:srgbClr val="1B3B5C"/>
                </a:solidFill>
                <a:latin typeface="Calibri"/>
              </a:rPr>
              <a:t>System Architecture (Layered)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1185062" cy="566928"/>
          </a:xfrm>
          <a:prstGeom prst="roundRect">
            <a:avLst>
              <a:gd name="adj" fmla="val 1290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02920" y="15087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Client</a:t>
            </a:r>
            <a:endParaRPr lang="en-US" sz="1000" dirty="0"/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Vanilla JS demo (React roadmap)</a:t>
            </a:r>
          </a:p>
        </p:txBody>
      </p:sp>
      <p:sp>
        <p:nvSpPr>
          <p:cNvPr id="10" name="Shape 7"/>
          <p:cNvSpPr/>
          <p:nvPr/>
        </p:nvSpPr>
        <p:spPr>
          <a:xfrm>
            <a:off x="1687982" y="1719072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944014" y="1508760"/>
            <a:ext cx="1185062" cy="566928"/>
          </a:xfrm>
          <a:prstGeom prst="roundRect">
            <a:avLst>
              <a:gd name="adj" fmla="val 1290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1944014" y="15087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API</a:t>
            </a:r>
            <a:endParaRPr lang="en-US" sz="1000" dirty="0"/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Node 20 + Exp 4</a:t>
            </a:r>
          </a:p>
        </p:txBody>
      </p:sp>
      <p:sp>
        <p:nvSpPr>
          <p:cNvPr id="13" name="Shape 10"/>
          <p:cNvSpPr/>
          <p:nvPr/>
        </p:nvSpPr>
        <p:spPr>
          <a:xfrm>
            <a:off x="3129077" y="1719072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385109" y="1508760"/>
            <a:ext cx="1185062" cy="566928"/>
          </a:xfrm>
          <a:prstGeom prst="roundRect">
            <a:avLst>
              <a:gd name="adj" fmla="val 12903"/>
            </a:avLst>
          </a:prstGeom>
          <a:solidFill>
            <a:srgbClr val="2E7D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3385109" y="15087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Rules + TF-IDF</a:t>
            </a:r>
            <a:endParaRPr lang="en-US" sz="1000" dirty="0"/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Cited, no LLM</a:t>
            </a:r>
          </a:p>
        </p:txBody>
      </p:sp>
      <p:sp>
        <p:nvSpPr>
          <p:cNvPr id="16" name="Shape 13"/>
          <p:cNvSpPr/>
          <p:nvPr/>
        </p:nvSpPr>
        <p:spPr>
          <a:xfrm>
            <a:off x="4570171" y="1719072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826203" y="1508760"/>
            <a:ext cx="1185062" cy="566928"/>
          </a:xfrm>
          <a:prstGeom prst="roundRect">
            <a:avLst>
              <a:gd name="adj" fmla="val 12903"/>
            </a:avLst>
          </a:prstGeom>
          <a:solidFill>
            <a:srgbClr val="4A90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4826203" y="15087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JSON file store</a:t>
            </a:r>
            <a:endParaRPr lang="en-US" sz="1000" dirty="0"/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(Postgres roadmap)</a:t>
            </a:r>
          </a:p>
        </p:txBody>
      </p:sp>
      <p:sp>
        <p:nvSpPr>
          <p:cNvPr id="19" name="Shape 16"/>
          <p:cNvSpPr/>
          <p:nvPr/>
        </p:nvSpPr>
        <p:spPr>
          <a:xfrm>
            <a:off x="6011266" y="1719072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267298" y="1508760"/>
            <a:ext cx="1185062" cy="566928"/>
          </a:xfrm>
          <a:prstGeom prst="roundRect">
            <a:avLst>
              <a:gd name="adj" fmla="val 12903"/>
            </a:avLst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6267298" y="1508760"/>
            <a:ext cx="11850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Workflow</a:t>
            </a:r>
            <a:endParaRPr lang="en-US" sz="1000" dirty="0"/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SLA Engine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502920" y="2194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222222"/>
                </a:solidFill>
                <a:latin typeface="Calibri"/>
              </a:rPr>
              <a:t>Demo now: Vanilla JS client → API (Node 20 + Express 4 REST) → Rules + TF-IDF retrieval v1 P@1 0.75 no LLM (cited) → JSON file store (pilot). Sidecars: demo auth/RBAC + validation + SLA sweeps. Phase-2: React, Postgres/pgvector, Tesseract OCR, SMS. NSWS/MAITRI dashed.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0040" y="3566160"/>
            <a:ext cx="7223760" cy="2926080"/>
          </a:xfrm>
          <a:prstGeom prst="roundRect">
            <a:avLst>
              <a:gd name="adj" fmla="val 3125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4572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Flowchart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2920" y="4023360"/>
            <a:ext cx="1545336" cy="548640"/>
          </a:xfrm>
          <a:prstGeom prst="roundRect">
            <a:avLst>
              <a:gd name="adj" fmla="val 1333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02920" y="40233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048256" y="42245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304288" y="4023360"/>
            <a:ext cx="1545336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2304288" y="40233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49624" y="42245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105656" y="4023360"/>
            <a:ext cx="1545336" cy="548640"/>
          </a:xfrm>
          <a:prstGeom prst="roundRect">
            <a:avLst>
              <a:gd name="adj" fmla="val 13333"/>
            </a:avLst>
          </a:prstGeom>
          <a:solidFill>
            <a:srgbClr val="2E7D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4105656" y="40233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50992" y="422452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907024" y="4023360"/>
            <a:ext cx="1545336" cy="548640"/>
          </a:xfrm>
          <a:prstGeom prst="roundRect">
            <a:avLst>
              <a:gd name="adj" fmla="val 13333"/>
            </a:avLst>
          </a:prstGeom>
          <a:solidFill>
            <a:srgbClr val="4A90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5907024" y="402336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77240" y="4892040"/>
            <a:ext cx="1962912" cy="548640"/>
          </a:xfrm>
          <a:prstGeom prst="roundRect">
            <a:avLst>
              <a:gd name="adj" fmla="val 13333"/>
            </a:avLst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777240" y="4892040"/>
            <a:ext cx="196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Workflow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Scrutiny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0152" y="509320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2996184" y="4892040"/>
            <a:ext cx="1962912" cy="548640"/>
          </a:xfrm>
          <a:prstGeom prst="roundRect">
            <a:avLst>
              <a:gd name="adj" fmla="val 1333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 txBox="1"/>
          <p:nvPr/>
        </p:nvSpPr>
        <p:spPr>
          <a:xfrm>
            <a:off x="2996184" y="4892040"/>
            <a:ext cx="196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959096" y="509320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5215128" y="4892040"/>
            <a:ext cx="1962912" cy="548640"/>
          </a:xfrm>
          <a:prstGeom prst="roundRect">
            <a:avLst>
              <a:gd name="adj" fmla="val 13333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5215128" y="4892040"/>
            <a:ext cx="1962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&amp; Compliance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5623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595959"/>
                </a:solidFill>
                <a:latin typeface="Calibri"/>
              </a:rPr>
              <a:t>Methodology: profile → ID → checklist → pre-val → workflow → scrutiny → inspect → approve → renew. Guardrail: cited answers only, human-in-loop; no legal advice without source.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818120" y="1051560"/>
            <a:ext cx="4069080" cy="54406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222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7955280" y="11612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222222"/>
                </a:solidFill>
                <a:latin typeface="Calibri"/>
              </a:rPr>
              <a:t>Tech Stack Used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001000" y="1545336"/>
            <a:ext cx="3703320" cy="4855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2000"/>
              </a:lnSpc>
              <a:spcBef>
                <a:spcPts val="0"/>
              </a:spcBef>
              <a:spcAft>
                <a:spcPts val="500"/>
              </a:spcAft>
              <a:buSzPct val="100000"/>
              <a:buChar char="●"/>
            </a:pPr>
            <a:r>
              <a:rPr sz="1200">
                <a:solidFill>
                  <a:srgbClr val="222222"/>
                </a:solidFill>
                <a:latin typeface="Calibri"/>
              </a:rPr>
              <a:t>Frontend: Vanilla JS offline demo (EN/MR toggle, React roadmap)</a:t>
            </a:r>
            <a:endParaRPr lang="en-US" sz="1300" dirty="0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Backend: Node 20 + Express 4 REST + demo auth/RBAC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Data+AI: JSON file store (pilot) + TF-IDF rule+retrieval v1 P@1 0.75, no LLM, cited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Docs &amp; Flow: filename+size+expiry validation now (Tesseract OCR Phase-2) + Rules + SLA sweeps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Ops: npm start :3000 offline; Postgres/SMS/audit-table/DPDP Phase-2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95959"/>
                </a:solidFill>
                <a:latin typeface="Calibri"/>
              </a:rPr>
              <a:t>Eval: citation precision + checklist accuracy; human-in-loop.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595959"/>
                </a:solidFill>
                <a:latin typeface="Calibri"/>
              </a:rPr>
              <a:t>NSWS/MAITRI connector dashed = Phase-2 (SSO + read-only).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565392"/>
            <a:ext cx="11548872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Udyog Sarthi AI  |  SIH26130-XXX  |  3 / 6  |  *Seed projection, pilot to validate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7432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B3B5C"/>
                </a:solidFill>
                <a:latin typeface="Calibri"/>
              </a:rPr>
              <a:t>Udyog Sarthi AI</a:t>
            </a:r>
            <a:endParaRPr lang="en-US" sz="12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B5C"/>
                </a:solidFill>
                <a:latin typeface="Calibri"/>
              </a:rPr>
              <a:t>SIH26130-XXX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103120" y="164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"/>
            <a:ext cx="1481328" cy="699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05840"/>
            <a:ext cx="7223760" cy="2880360"/>
          </a:xfrm>
          <a:prstGeom prst="roundRect">
            <a:avLst>
              <a:gd name="adj" fmla="val 3175"/>
            </a:avLst>
          </a:prstGeom>
          <a:solidFill>
            <a:srgbClr val="DCE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57200" y="1060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Mitigation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30352" y="1371600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&amp; frequently changing regulations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584448" y="1508760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913632" y="1371600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986784" y="1371600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regulatory knowledge base with source references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1865376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530352" y="1865376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or incorrect applications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584448" y="2002536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913632" y="1865376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3986784" y="1865376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checklist &amp; pre-submission validation (TF-IDF cited)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359152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30352" y="2359152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departmental workflows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584448" y="2496312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3913632" y="2359152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3986784" y="2359152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engine for parallel, dept-specific processes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2852928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530352" y="2852928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business documents &amp; data privacy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584448" y="2990088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3913632" y="285292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3986784" y="2852928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auth + RBAC + validation; encryption/audit-table Phase-2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3346704"/>
            <a:ext cx="3063240" cy="420624"/>
          </a:xfrm>
          <a:prstGeom prst="roundRect">
            <a:avLst>
              <a:gd name="adj" fmla="val 13043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530352" y="3346704"/>
            <a:ext cx="2916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system integration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584448" y="3483864"/>
            <a:ext cx="256032" cy="146304"/>
          </a:xfrm>
          <a:prstGeom prst="rightArrow">
            <a:avLst/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3913632" y="3346704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3986784" y="3346704"/>
            <a:ext cx="3328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FFFFFF"/>
                </a:solidFill>
                <a:latin typeface="Calibri"/>
              </a:rPr>
              <a:t>API layer over MAITRI/NSWS (SSO + read-only, Phase-2)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18120" y="1005840"/>
            <a:ext cx="4069080" cy="2880360"/>
          </a:xfrm>
          <a:prstGeom prst="roundRect">
            <a:avLst>
              <a:gd name="adj" fmla="val 3810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8001000" y="11338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8001000" y="1554480"/>
            <a:ext cx="370332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300"/>
              </a:spcAft>
              <a:buSzPct val="100000"/>
              <a:buChar char="●"/>
            </a:pPr>
            <a:r>
              <a:rPr sz="1100" b="0">
                <a:solidFill>
                  <a:srgbClr val="222222"/>
                </a:solidFill>
                <a:latin typeface="Calibri"/>
              </a:rPr>
              <a:t>Proven stack (Vanilla JS/Node/JSON) → rapid MVP; React/Postgres Phase-2.</a:t>
            </a:r>
            <a:endParaRPr lang="en-US" sz="12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MVP: 3 approvals × Sinnar MIDC, 20 users, 4 weeks.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Modular: start small, expand dept-wise.</a:t>
            </a:r>
          </a:p>
        </p:txBody>
      </p:sp>
      <p:sp>
        <p:nvSpPr>
          <p:cNvPr id="36" name="Shape 33"/>
          <p:cNvSpPr/>
          <p:nvPr/>
        </p:nvSpPr>
        <p:spPr>
          <a:xfrm>
            <a:off x="320040" y="4023360"/>
            <a:ext cx="3657600" cy="2514600"/>
          </a:xfrm>
          <a:prstGeom prst="roundRect">
            <a:avLst>
              <a:gd name="adj" fmla="val 436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502920" y="41513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4572000"/>
            <a:ext cx="329184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300"/>
              </a:spcAft>
              <a:buSzPct val="100000"/>
              <a:buChar char="●"/>
            </a:pPr>
            <a:r>
              <a:rPr sz="1100" b="0">
                <a:solidFill>
                  <a:srgbClr val="222222"/>
                </a:solidFill>
                <a:latin typeface="Calibri"/>
              </a:rPr>
              <a:t>Laptop + npm start :3000 offline demo.</a:t>
            </a:r>
            <a:endParaRPr lang="en-US" sz="11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JSON file store (pilot); Postgres Phase-2.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TF-IDF no LLM (P@1 0.75); capped LLM Phase-2.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Demo auth + validation + SLA sweeps; Tesseract/SMS/audit-table Phase-2.</a:t>
            </a:r>
          </a:p>
        </p:txBody>
      </p:sp>
      <p:sp>
        <p:nvSpPr>
          <p:cNvPr id="39" name="Shape 36"/>
          <p:cNvSpPr/>
          <p:nvPr/>
        </p:nvSpPr>
        <p:spPr>
          <a:xfrm>
            <a:off x="4114800" y="40233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3F3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 txBox="1"/>
          <p:nvPr/>
        </p:nvSpPr>
        <p:spPr>
          <a:xfrm>
            <a:off x="420624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279392" y="45720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 txBox="1"/>
          <p:nvPr/>
        </p:nvSpPr>
        <p:spPr>
          <a:xfrm>
            <a:off x="4279392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Single Window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(NSWS)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279392" y="513892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 txBox="1"/>
          <p:nvPr/>
        </p:nvSpPr>
        <p:spPr>
          <a:xfrm>
            <a:off x="4279392" y="5138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Doing Business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279392" y="5705856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4279392" y="5705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Digital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818120" y="4023360"/>
            <a:ext cx="4069080" cy="2514600"/>
          </a:xfrm>
          <a:prstGeom prst="roundRect">
            <a:avLst>
              <a:gd name="adj" fmla="val 4364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 txBox="1"/>
          <p:nvPr/>
        </p:nvSpPr>
        <p:spPr>
          <a:xfrm>
            <a:off x="8001000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8001000" y="4572000"/>
            <a:ext cx="37033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300"/>
              </a:spcAft>
              <a:buSzPct val="100000"/>
              <a:buChar char="●"/>
            </a:pPr>
            <a:r>
              <a:rPr sz="1100" b="0">
                <a:solidFill>
                  <a:srgbClr val="222222"/>
                </a:solidFill>
                <a:latin typeface="Calibri"/>
              </a:rPr>
              <a:t>Wk1-2 KB + auth; Wk3-4 rules + validation.</a:t>
            </a:r>
            <a:endParaRPr lang="en-US" sz="1100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Wk5 TF-IDF + dashboards; Wk6 pilot.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Calibri"/>
              </a:rPr>
              <a:t>Complement MAITRI/NSWS, not duplicate.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565392"/>
            <a:ext cx="11548872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Udyog Sarthi AI  |  SIH26130-XXX  |  4 / 6  |  Pilot: Sinnar MIDC, 20 users, 4 weeks *Seed projection, pilot to validate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7432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B3B5C"/>
                </a:solidFill>
                <a:latin typeface="Calibri"/>
              </a:rPr>
              <a:t>Udyog Sarthi AI</a:t>
            </a:r>
            <a:endParaRPr lang="en-US" sz="12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B5C"/>
                </a:solidFill>
                <a:latin typeface="Calibri"/>
              </a:rPr>
              <a:t>SIH26130-XXX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103120" y="164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"/>
            <a:ext cx="1481328" cy="6995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868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48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PLATFORM. EVERY APPROVAL. FULL TRANSPARENCY.”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IMPACT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F5F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48640" y="20025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/ MSMEs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2316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approval roadmap, fewer errors, reduced compliance effort, transparent tracking.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794760" y="18745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4858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977640" y="20025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Departments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242316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application completeness, reduced repetitive scrutiny, improved workload visibility.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34747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2E7D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48640" y="36027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Officers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02336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case management, SLA monitoring, inspection scheduling, bottleneck identification.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94760" y="34747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1B3B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977640" y="36027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402336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understanding of registrations, licences, incentives &amp; compliance obligations.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&amp; LONG-TERM IMPACT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1920240"/>
            <a:ext cx="4434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●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Government: </a:t>
            </a: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identification of approval delays &amp; bottlenecks to improve ease of doing business.</a:t>
            </a:r>
            <a:endParaRPr lang="en-US" sz="1300" dirty="0"/>
          </a:p>
          <a:p>
            <a:pPr marL="177800" indent="-177800">
              <a:buSzPct val="100000"/>
              <a:buChar char="●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Impact: </a:t>
            </a: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approval time &amp; compliance cost can encourage entrepreneurship, investment &amp; industrial growth.</a:t>
            </a:r>
            <a:endParaRPr lang="en-US" sz="1300" dirty="0"/>
          </a:p>
          <a:p>
            <a:pPr marL="177800" indent="-177800">
              <a:buSzPct val="100000"/>
              <a:buChar char="●"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</a:t>
            </a: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digital framework that can expand across sectors, districts &amp; government services.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5074920"/>
            <a:ext cx="6675120" cy="1051560"/>
          </a:xfrm>
          <a:prstGeom prst="roundRect">
            <a:avLst>
              <a:gd name="adj" fmla="val 10435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548640" y="520293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PILOT TARGETS &amp; PROJECTED IMPACT*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200"/>
              </a:spcAft>
              <a:buSzPct val="100000"/>
              <a:buChar char="●"/>
            </a:pPr>
            <a:r>
              <a:rPr sz="1000" b="0">
                <a:solidFill>
                  <a:srgbClr val="FFFFFF"/>
                </a:solidFill>
                <a:latin typeface="Calibri"/>
              </a:rPr>
              <a:t>68→31 days • 41%→12% resubmissions • ≥95% checklist • 100% SLA visibility (pilot depts)</a:t>
            </a:r>
            <a:endParaRPr lang="en-US" sz="1050"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Pilot: 3 approvals (Udyam, Shops &amp; Estt., Fire NOC) × Sinnar MIDC, 20 users, 4 weeks. *Seed projection, pilot to validate. MR/HI/EN + CSC assist.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309360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95959"/>
                </a:solidFill>
                <a:latin typeface="Calibri"/>
              </a:rPr>
              <a:t>Udyog Sarthi AI  |  SIH26130-XXX  |  5 / 6  |  *Seed projection, pilot to validate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74320" y="256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1B3B5C"/>
                </a:solidFill>
                <a:latin typeface="Calibri"/>
              </a:rPr>
              <a:t>Udyog Sarthi AI</a:t>
            </a:r>
            <a:endParaRPr lang="en-US" sz="12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3B5C"/>
                </a:solidFill>
                <a:latin typeface="Calibri"/>
              </a:rPr>
              <a:t>SIH26130-XXX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2103120" y="164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/home/claude/sih_logo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01168"/>
            <a:ext cx="1481328" cy="6995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14300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DCEB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02920" y="12710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Policy Resources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91640"/>
            <a:ext cx="5394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400"/>
              </a:spcAft>
              <a:buSzPct val="100000"/>
              <a:buChar char="●"/>
            </a:pPr>
            <a:r>
              <a:rPr sz="1050" b="0">
                <a:solidFill>
                  <a:srgbClr val="222222"/>
                </a:solidFill>
                <a:latin typeface="Calibri"/>
              </a:rPr>
              <a:t>MAITRI 2.0 — MIDC (04-Feb-2025, CM launch) — maitri.mahaonline.gov.in</a:t>
            </a:r>
            <a:endParaRPr lang="en-US" sz="12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222222"/>
                </a:solidFill>
                <a:latin typeface="Calibri"/>
              </a:rPr>
              <a:t>Maharashtra Facilitation Act 2023 — time-bound disposal + deemed provision</a:t>
            </a:r>
          </a:p>
        </p:txBody>
      </p:sp>
      <p:sp>
        <p:nvSpPr>
          <p:cNvPr id="9" name="Shape 6"/>
          <p:cNvSpPr/>
          <p:nvPr/>
        </p:nvSpPr>
        <p:spPr>
          <a:xfrm>
            <a:off x="6263640" y="114300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2C4F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6446520" y="127101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Frameworks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691640"/>
            <a:ext cx="5394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400"/>
              </a:spcAft>
              <a:buSzPct val="100000"/>
              <a:buChar char="●"/>
            </a:pPr>
            <a:r>
              <a:rPr sz="1050" b="0">
                <a:solidFill>
                  <a:srgbClr val="FFFFFF"/>
                </a:solidFill>
                <a:latin typeface="Calibri"/>
              </a:rPr>
              <a:t>NSWS — 325 Central + ~2200 State approvals — nsws.gov.in</a:t>
            </a:r>
            <a:endParaRPr lang="en-US" sz="12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India Code — indiacode.nic.in; MCA21, GSTN (read-only, Phase-2)</a:t>
            </a:r>
          </a:p>
        </p:txBody>
      </p:sp>
      <p:sp>
        <p:nvSpPr>
          <p:cNvPr id="12" name="Shape 9"/>
          <p:cNvSpPr/>
          <p:nvPr/>
        </p:nvSpPr>
        <p:spPr>
          <a:xfrm>
            <a:off x="320040" y="393192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1C24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02920" y="40599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Facilitation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480560"/>
            <a:ext cx="5394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400"/>
              </a:spcAft>
              <a:buSzPct val="100000"/>
              <a:buChar char="●"/>
            </a:pPr>
            <a:r>
              <a:rPr sz="1050" b="0">
                <a:solidFill>
                  <a:srgbClr val="FFFFFF"/>
                </a:solidFill>
                <a:latin typeface="Calibri"/>
              </a:rPr>
              <a:t>Udyam Registration — udyamregistration.gov.in; PSI-2019 incentives</a:t>
            </a:r>
            <a:endParaRPr lang="en-US" sz="12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Fire NOC / Shops &amp; Estt. — Sinnar MIDC pilot (3 approvals)</a:t>
            </a:r>
          </a:p>
        </p:txBody>
      </p:sp>
      <p:sp>
        <p:nvSpPr>
          <p:cNvPr id="15" name="Shape 12"/>
          <p:cNvSpPr/>
          <p:nvPr/>
        </p:nvSpPr>
        <p:spPr>
          <a:xfrm>
            <a:off x="6263640" y="3931920"/>
            <a:ext cx="5760720" cy="2606040"/>
          </a:xfrm>
          <a:prstGeom prst="roundRect">
            <a:avLst>
              <a:gd name="adj" fmla="val 4211"/>
            </a:avLst>
          </a:prstGeom>
          <a:solidFill>
            <a:srgbClr val="2C4F7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446520" y="40599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Governance Reports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480560"/>
            <a:ext cx="53949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Bef>
                <a:spcPts val="0"/>
              </a:spcBef>
              <a:spcAft>
                <a:spcPts val="400"/>
              </a:spcAft>
              <a:buSzPct val="100000"/>
              <a:buChar char="●"/>
            </a:pPr>
            <a:r>
              <a:rPr sz="1050" b="0">
                <a:solidFill>
                  <a:srgbClr val="FFFFFF"/>
                </a:solidFill>
                <a:latin typeface="Calibri"/>
              </a:rPr>
              <a:t>EoDB / NSWS dashboards — baseline 68d, 41% resubmissions*</a:t>
            </a:r>
            <a:endParaRPr lang="en-US" sz="1200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Pilot target 31d, 12% — *seed projection, pilot to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65392"/>
            <a:ext cx="11548872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B3B5C"/>
                </a:solidFill>
                <a:latin typeface="Calibri"/>
              </a:rPr>
              <a:t>Thank you! — Udyog Sarthi AI  |  SIH26130-XXX  |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Widescreen</PresentationFormat>
  <Paragraphs>180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D</cp:lastModifiedBy>
  <cp:revision>2</cp:revision>
  <dcterms:created xsi:type="dcterms:W3CDTF">2026-09-07T07:01:29Z</dcterms:created>
  <dcterms:modified xsi:type="dcterms:W3CDTF">2026-09-09T05:21:06Z</dcterms:modified>
</cp:coreProperties>
</file>